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1510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everyone; welcome to COS30082 Applied Machine Learning, Assignment 1.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name: Andy Wei Jian CHU; Student ID: 104401283.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Project: Fine-Grained Bird Species Classification on CUB-200.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Roadmap: FGVC challenge → ResNet-50 vs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ConvNeXt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-Tiny → overfitting strategies → code walkthrough → evaluation metrics →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Streamlit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is fine-grained visual categorization, not generic object classification.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 classify among 200 bird species.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Dilemma 1: 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inter-class variance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sister species look almost identical.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Differences are tiny/local: beak curvature, eye rings, wing bars.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Dilemma 2: 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intra-class variance + overfitting risk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~24 training images per class.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networks may memorize backgrounds: sky, leaves, branches.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 methodology must prevent background memorization and focus on subtle bird anatomy.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 ResNet-50 and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ConvNeXt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-Tiny under two regimes: frozen feature extraction and end-to-end fine-tuning.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Gives four configurations: frozen vs fine-tuned within each architecture; architecture comparison at each regime.</a:t>
            </a:r>
          </a:p>
          <a:p>
            <a:pPr lvl="0"/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ResNet-50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ImageNet-1K pretrained; residual connections solve vanishing gradients.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Limitation: localized 3×3 convolutions → small early receptive field; diffuses fine-grained detail.</a:t>
            </a:r>
          </a:p>
          <a:p>
            <a:pPr lvl="0"/>
            <a:r>
              <a:rPr lang="en-MY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ConvNeXt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-Tiny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modern CNN using Vision Transformer principles.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large 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7×7 </a:t>
            </a:r>
            <a:r>
              <a:rPr lang="en-MY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depthwise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convolutions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larger receptive field from first stage.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Captures whole-body plumage and bill shape simultaneously.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Inverted bottleneck: expands hidden channels by 4× → avoids spatial detail bottleneck.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LayerNorm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GELU instead of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BatchNorm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stabilizes feature learning.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models: custom 200-class head with 0.3 dropout.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Four-part regularization suite.</a:t>
            </a:r>
          </a:p>
          <a:p>
            <a:pPr lvl="0"/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Stratified 85/15 split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4,829 → 4,104 train / 725 validation.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Ensures all 200 species represented proportionally; reliable early stopping; test set untouched.</a:t>
            </a:r>
          </a:p>
          <a:p>
            <a:pPr lvl="0"/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Domain-aware augmentation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Resized Crop → scale invariance / telephoto zoom simulation.</a:t>
            </a:r>
          </a:p>
          <a:p>
            <a:pPr lvl="1"/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Jitter → brightness, contrast, saturation; prevents daylight/canopy memorization.</a:t>
            </a:r>
          </a:p>
          <a:p>
            <a:pPr lvl="1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Erasing → hides patches; forces multiple independent visual cues.</a:t>
            </a:r>
          </a:p>
          <a:p>
            <a:pPr lvl="0"/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 Smoothing Cross-Entropy, ε = 0.1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avoids overconfident hard labels; helps ambiguous species.</a:t>
            </a:r>
          </a:p>
          <a:p>
            <a:pPr lvl="0"/>
            <a:r>
              <a:rPr lang="en-MY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AdamW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weight decay 0.01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differential learning rates; Cosine Annealing; FP16 AMP.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Trained efficiently on local RTX 2050 GPU.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Codebase is modular.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dataset.py: CUB200Dataset; stratified split;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torchvision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transforms; deterministic evaluation with resize/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center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crop.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models.py: factory builds ResNet-50 or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ConvNeXt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-Tiny with pretrained weights; swaps classifier head.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 groups: backbone fine-tuned gently at 1e-4; new head learns at 5e-4.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train.py: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torch.cuda.amp.autocast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+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GradScaler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Cuts VRAM to ~1.8 GB; fits 4 GB VRAM without memory spikes.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epoch: validation Top-1 and Average Class Accuracy; checkpoint best weights.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evaluate.py: implements exact rubric metrics.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 shown: current production baseline on official 1,204 test images.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four-way comparison pending completion of twelve isolated runs.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 both required metrics: Top-1 Accuracy and Average Accuracy per Class.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baseline: </a:t>
            </a:r>
            <a:r>
              <a:rPr lang="en-MY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ConvNeXt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-Tiny outperformed ResNet-50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ResNet-50: 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80.65% Top-1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80.11% Average Class Acc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ConvNeXt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-Tiny: 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89.53% Top-1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89.36% Average Class Acc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Absolute gain: 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+8.88% Top-1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+9.25% Average Class Acc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Saved histories: final train–validation Top-1 gap = 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15.83 pts ResNet-50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11.20 pts </a:t>
            </a:r>
            <a:r>
              <a:rPr lang="en-MY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ConvNeXt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-Tiny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saved unregularized ablation → do not claim how much each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regularizer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changed the gap.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Saved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ConvNeXt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errors: Common Tern → Arctic Tern three times; several pairs with two errors in one direction.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image annotations explaining errors → do not attribute to lighting, pose, or plumage.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 integrated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Streamlit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Home page: upload bird photo or select official test image.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 Identify bird species.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 top-1 prediction, confidence percentage, top-five probability chart.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page: official Top-1 and average per-class accuracy.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Experiment page: setup, saved figures, interactive seed comparison, final model-selection conclusion in one workflow.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 has documented production baseline using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ConvNeXt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-Tiny + rigorous regularization suite.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Achieves 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89.53% Top-1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MY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89.36% Average Class Accuracy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12-run frozen-vs-fine-tuned comparison remains pending.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promotion will be based on validation average class accuracy before official test evaluation.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Addressed FGVC challenges on CUB-200.</a:t>
            </a:r>
          </a:p>
          <a:p>
            <a:pPr lvl="0"/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ConvNeXt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-Tiny outperformed ResNet-50 in current baseline.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Regularization measured in saved histories; no causal ablation claimed.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Deliverables: modular Python code, 4-page report,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Streamlit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app, presentation.</a:t>
            </a:r>
          </a:p>
          <a:p>
            <a:pPr lvl="0"/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audience; code, checkpoints, documentation, and app available in submission repository.</a:t>
            </a:r>
          </a:p>
          <a:p>
            <a:br>
              <a:rPr lang="en-MY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8046720" cy="137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COS30082  ·  APPLIED MACHINE LEARNING  ·  ASSIGNMENT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Bird Species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on CUB-200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029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Andy Wei Jian CHU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ID: 104401283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Swinburne University of Technology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Streamlit:  streamlit run app.py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3200400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594360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0" y="3200400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694944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ConvNeXt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3200400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795528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8046720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 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EB5C592-6D27-5DCC-F4DC-2F851993B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1714" y="1188720"/>
            <a:ext cx="2716526" cy="18092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Visual Categorization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874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INTER-CLASS VARIANCE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234440"/>
            <a:ext cx="1874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443577" y="2676579"/>
            <a:ext cx="1874520" cy="409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Black-footed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Albatross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1018" y="2557054"/>
            <a:ext cx="187452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Laysan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Albatross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005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STATS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23444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5029200" y="1371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species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4,829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training images  (~24 / class)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1,204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test images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Intra-class Variance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Pose, lighting, background, and occlusion vary widely within each species. Model easily memorizes non-bird cues.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24612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Overfitting Risk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703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 images per class. Deep nets quickly latch onto sky, leaves, or branches instead of subtle anatomy.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 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FB49D85-D51B-9BCA-0D5C-74B350E7D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61" y="1303020"/>
            <a:ext cx="1718797" cy="1371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A275FBF-F780-1807-BEEC-53F736DF7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194" y="1327312"/>
            <a:ext cx="1672046" cy="1324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Comparison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3877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ResNet-50  vs  ConvNeXt-Tiny  ·  Frozen feature extraction  +  End-to-end fine-tuning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72222" y="3195496"/>
            <a:ext cx="7197483" cy="125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CNN + ViT principles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9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D8D7E70-C47D-EF9D-15A4-76693917BE0A}"/>
              </a:ext>
            </a:extLst>
          </p:cNvPr>
          <p:cNvGrpSpPr/>
          <p:nvPr/>
        </p:nvGrpSpPr>
        <p:grpSpPr>
          <a:xfrm>
            <a:off x="457199" y="984552"/>
            <a:ext cx="9262781" cy="1963998"/>
            <a:chOff x="457200" y="1234440"/>
            <a:chExt cx="8751384" cy="1639389"/>
          </a:xfrm>
        </p:grpSpPr>
        <p:sp>
          <p:nvSpPr>
            <p:cNvPr id="6" name="Shape 4"/>
            <p:cNvSpPr/>
            <p:nvPr/>
          </p:nvSpPr>
          <p:spPr>
            <a:xfrm>
              <a:off x="457200" y="1234440"/>
              <a:ext cx="7935686" cy="163938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 5"/>
            <p:cNvSpPr/>
            <p:nvPr/>
          </p:nvSpPr>
          <p:spPr>
            <a:xfrm>
              <a:off x="826302" y="1304700"/>
              <a:ext cx="7197483" cy="1639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ResNet-50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011101" y="1327652"/>
              <a:ext cx="7197483" cy="1170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88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ImageNet-1K pretrained</a:t>
              </a:r>
              <a:endParaRPr lang="en-US" sz="11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26302" y="2241493"/>
              <a:ext cx="7197483" cy="5620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 Localized 3×3 convolutions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 Small early receptive field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 ~24.5M parameters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 Custom 200-class head + 0.3 dropout</a:t>
              </a:r>
              <a:endParaRPr lang="en-US" sz="1200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313EBB1-A04F-5AD3-81DC-8EF32F007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5925" y="1499557"/>
              <a:ext cx="5985108" cy="712513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345D051-FFD5-5ACF-DEE3-0E0F24B23545}"/>
              </a:ext>
            </a:extLst>
          </p:cNvPr>
          <p:cNvGrpSpPr/>
          <p:nvPr/>
        </p:nvGrpSpPr>
        <p:grpSpPr>
          <a:xfrm>
            <a:off x="457200" y="3004180"/>
            <a:ext cx="8399416" cy="1842140"/>
            <a:chOff x="457200" y="3089428"/>
            <a:chExt cx="8399416" cy="1756892"/>
          </a:xfrm>
        </p:grpSpPr>
        <p:sp>
          <p:nvSpPr>
            <p:cNvPr id="12" name="Shape 10"/>
            <p:cNvSpPr/>
            <p:nvPr/>
          </p:nvSpPr>
          <p:spPr>
            <a:xfrm>
              <a:off x="457200" y="3089428"/>
              <a:ext cx="8399416" cy="17568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Text 11"/>
            <p:cNvSpPr/>
            <p:nvPr/>
          </p:nvSpPr>
          <p:spPr>
            <a:xfrm>
              <a:off x="826302" y="3164723"/>
              <a:ext cx="7197483" cy="1756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ConvNeXt-Tiny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26302" y="4168662"/>
              <a:ext cx="7197483" cy="602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 7×7 depthwise convolutions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 Large early receptive field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 ~28.0M parameters  ·  LayerNorm + GELU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 Custom 200-class head + 0.3 dropout</a:t>
              </a:r>
              <a:endParaRPr lang="en-US" sz="1200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348A701-C901-9ED5-A99C-3AB7366A3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1947" y="3371185"/>
              <a:ext cx="7491396" cy="7392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REGULARIZATION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Mitigation Suite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Stratified Split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/ 15 train–val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4,104 train  ·  725 val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species proportionally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represented for early stopping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Augmentation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RandomResizedCrop 224×224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RandomHorizontalFlip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ColorJitter (B/C/S)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RandomErasing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Label Smoothing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Cross-Entropy ε = 0.1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targets across classes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overconfidence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ambiguous species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7889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493776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Optimizer &amp; Schedule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291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AdamW  λ = 0.01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LR (1e-4 / 5e-4)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Annealing + AMP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~1.8 GB VRAM on RTX 2050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 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01168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CUB200Dataset class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85/15 split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transforms vs. eval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(resize + center crop)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05156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2606040" y="1051560"/>
            <a:ext cx="201168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260604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169164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build_model factory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ResNet-50 / ConvNeXt-Tiny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groups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(backbone 1e-4 (0.0001), head 5e-4(0.0005))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201168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475488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69164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 autocast + GradScaler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~1.8 GB VRAM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Top-1 + Ave Class Acc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Best-weight checkpointing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105156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Shape 16"/>
          <p:cNvSpPr/>
          <p:nvPr/>
        </p:nvSpPr>
        <p:spPr>
          <a:xfrm>
            <a:off x="6903720" y="1051560"/>
            <a:ext cx="201168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690372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evaluate.py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169164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metric formulas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Accuracy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Class Accuracy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pair export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1,204 test images  ·  Production baseline (4-way comparison pending)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19548" y="1188720"/>
            <a:ext cx="16524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Acc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 Class Acc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Top-1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199" y="1554480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548639" y="1554480"/>
            <a:ext cx="23709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ResNet-50 (Fine-tuned)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19548" y="1554480"/>
            <a:ext cx="16524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80.65%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80.11%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48640" y="1965960"/>
            <a:ext cx="2370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ConvNeXt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-Tiny</a:t>
            </a: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(Fine-tuned)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19548" y="1965960"/>
            <a:ext cx="16524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89.53%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89.36%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+8.88%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64008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Train–Val Gap (Top-1)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10896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ResNet-50:  15.83 pts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ConvNeXt-Tiny:  11.20 pts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unregularized ablation saved;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attribute gap reduction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individual regularizers.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65176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493776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Confusion Pairs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10896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Tern → Arctic Tern (×3)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Chuck-will’s-widow ↔ Whip-poor-will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Acadian ↔ Least Flycatcher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image annotations; no causal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to lighting / pose.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DEMONSTRATION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Application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    localhost:8501  —  Bird Species Classifier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photo or select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test image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Identify bird species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Top-1 + confidence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Top-5 probability chart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9659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metrics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Accuracy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Class Accuracy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summary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info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9659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overview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figures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seed compare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Model-selection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0972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FGVC addressed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inter-class / high intra-class variance handled via architecture + regularization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18745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ConvNeXt-Tiny superior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1488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89.53% Top-1  ·  89.36% Ave Class Acc  (+8.88% / +9.25% over ResNet-50)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651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 suite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9260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in histories; no causal ablation claimed. Pending 12-run comparison.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4290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deliverables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7033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code · 4-page report · Streamlit app · this presentation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1410</Words>
  <Application>Microsoft Office PowerPoint</Application>
  <PresentationFormat>On-screen Show (16:9)</PresentationFormat>
  <Paragraphs>231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Fine-Grained Bird Species Classification on CUB-200</dc:title>
  <dc:subject>COS30082 Applied Machine Learning — Assignment 1</dc:subject>
  <dc:creator>Andy Wei Jian CHU</dc:creator>
  <cp:lastModifiedBy>Andy Chu</cp:lastModifiedBy>
  <cp:revision>2</cp:revision>
  <dcterms:created xsi:type="dcterms:W3CDTF">2026-10-23T12:08:05Z</dcterms:created>
  <dcterms:modified xsi:type="dcterms:W3CDTF">2026-10-23T15:46:29Z</dcterms:modified>
</cp:coreProperties>
</file>